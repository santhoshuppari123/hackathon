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a87c8ef3-2d91-4b9a-83b8-449014511938.fntdata" /><ns0:Relationship Id="rIdFont13" Type="http://schemas.openxmlformats.org/officeDocument/2006/relationships/font" Target="fonts/3041ef06-ccfe-4630-8eb2-7fbb6d5a87b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45481" y="2851844"/>
            <a:ext cx="8301037" cy="6171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1" sz="4050" i="0" u="none">
                <a:solidFill>
                  <a:srgbClr val="1D4ED8"/>
                </a:solidFill>
                <a:latin typeface="Inter"/>
              </a:rPr>
              <a:t>HCL Hackathon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0" y="3659534"/>
            <a:ext cx="4000500" cy="3466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2100" i="0" u="none">
                <a:solidFill>
                  <a:srgbClr val="1E40AF"/>
                </a:solidFill>
                <a:latin typeface="Inter"/>
              </a:rPr>
              <a:t>Credit Card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1D4ED8"/>
                </a:solidFill>
                <a:latin typeface="Inter"/>
              </a:rPr>
              <a:t>Apply for a new credit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86780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4787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New Credit Card input fields (Minimal fields)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70339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817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On providing valid information, do check for user credit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64816"/>
            <a:ext cx="34662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1350" i="0" u="none">
                <a:solidFill>
                  <a:srgbClr val="0F172A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170" y="1798141"/>
            <a:ext cx="9155906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0" sz="1575" i="0" u="none">
                <a:solidFill>
                  <a:srgbClr val="1E293B"/>
                </a:solidFill>
                <a:latin typeface="Inter"/>
              </a:rPr>
              <a:t>As a new customer, I should be able to apply for a credit card with the Z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756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756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Basic user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137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137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Employment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18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18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Identity document name and 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1D4ED8"/>
                </a:solidFill>
                <a:latin typeface="Inter"/>
              </a:rPr>
              <a:t>Customer credit 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86780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4787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Credit check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70339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817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On providing valid customer information, update the customer credit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64816"/>
            <a:ext cx="34662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1350" i="0" u="none">
                <a:solidFill>
                  <a:srgbClr val="0F172A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170" y="1798141"/>
            <a:ext cx="9215437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0" sz="1575" i="0" u="none">
                <a:solidFill>
                  <a:srgbClr val="1E293B"/>
                </a:solidFill>
                <a:latin typeface="Inter"/>
              </a:rPr>
              <a:t>As a credit rating system, provide credit score based on customer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758053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756148"/>
            <a:ext cx="11163300" cy="28947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credit score is available return the value as such (Numeric)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123723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121818"/>
            <a:ext cx="10496550" cy="1577131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no credit score is available, calculate score based on salary and other cards held: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3486536"/>
            <a:ext cx="1143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487489"/>
            <a:ext cx="10896600" cy="27429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Already hold 2 or more credit cards, score – 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98927"/>
            <a:ext cx="15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799879"/>
            <a:ext cx="10896600" cy="27429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Annual salary &gt; 200000$, score –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11317"/>
            <a:ext cx="15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4112269"/>
            <a:ext cx="10896600" cy="27429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Annual salary &lt; 200000 $ and &gt;50000$, score –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23707"/>
            <a:ext cx="15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424660"/>
            <a:ext cx="10896600" cy="27429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Annual salary &lt;50000$, score –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1D4ED8"/>
                </a:solidFill>
                <a:latin typeface="Inter"/>
              </a:rPr>
              <a:t>Activate credit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86780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4787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Credit card allocation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33130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744491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Generate card number and First time PIN for the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201691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613052"/>
            <a:ext cx="11430000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Customer receive the card and pin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941665"/>
            <a:ext cx="11430000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Workflow after additional documents are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864816"/>
            <a:ext cx="34662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1350" i="0" u="none">
                <a:solidFill>
                  <a:srgbClr val="0F172A"/>
                </a:solidFill>
                <a:latin typeface="Inter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170" y="1798141"/>
            <a:ext cx="926306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0" sz="1575" i="0" u="none">
                <a:solidFill>
                  <a:srgbClr val="1E293B"/>
                </a:solidFill>
                <a:latin typeface="Inter"/>
              </a:rPr>
              <a:t>As a Z Bank system, reject or approve credit card application for the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758053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756148"/>
            <a:ext cx="11163300" cy="28947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credit score is 500, card type – PLATINUM, Limit – 40000$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23723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121818"/>
            <a:ext cx="11163300" cy="28947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credit score is 300, card type – GOLD, Limit – 20000$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489394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487489"/>
            <a:ext cx="11163300" cy="28947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credit score is 150, card type – VISA, Limit – 10000$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855065"/>
            <a:ext cx="104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3853160"/>
            <a:ext cx="11163300" cy="28947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If credit score is 50, request additional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1D4ED8"/>
                </a:solidFill>
                <a:latin typeface="Inter"/>
              </a:rPr>
              <a:t>First time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86780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4787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New Credit Card input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70339"/>
            <a:ext cx="11430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817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On providing valid information, update the PIN and first audit for the customer, PIN GENERATED.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64816"/>
            <a:ext cx="34662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1350" i="0" u="none">
                <a:solidFill>
                  <a:srgbClr val="0F172A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170" y="1798141"/>
            <a:ext cx="11254829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0" sz="1575" i="0" u="none">
                <a:solidFill>
                  <a:srgbClr val="1E293B"/>
                </a:solidFill>
                <a:latin typeface="Inter"/>
              </a:rPr>
              <a:t>As a new credit card customer, I should be able to change default PIN for my credit card with the Z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756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756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Credit card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137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137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First Time 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18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18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Document Id (provide during apply new credit card)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899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899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New PIN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280148"/>
            <a:ext cx="1047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280148"/>
            <a:ext cx="11163300" cy="3238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Confirm new PIN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